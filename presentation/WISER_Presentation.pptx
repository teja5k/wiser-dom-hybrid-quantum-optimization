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B79C2-5B07-4294-8F73-1FE865E7470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68CC98-2BBC-45CD-9BC9-3D1D33426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5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68CC98-2BBC-45CD-9BC9-3D1D334260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27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D6B6-012F-AF03-9357-DAD0C688F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0557F-D6CE-5722-EC37-10FEEAA91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EAFAC-3C65-6143-7F5B-3CD26ADA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59528-48D9-FBC8-86D8-086FDEF9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0560E-6C76-0474-0A54-A7083BD51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85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AE8EF-958E-D423-FBBD-02BFE5DF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3E78F-17F8-AA26-9C83-5677835F6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8E75-6E5F-077A-52F6-863EC045F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F4966-AA39-90C5-0E40-32668B83F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E9B4A-D853-2DF2-3ABE-31D83D45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0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BE98-F331-B93D-F0DA-8102CF4A9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423E7-F459-FDF5-611C-58F14B59F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3AD0A-A9F7-C86F-7C00-965B856E6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8D645-AFC3-D461-67B6-CA094C57F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A82C1-176F-1284-9E8D-9222643C6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8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AA9D-9EB2-4ADD-4CD0-3366E0473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F0E16-8FB3-E99F-F01A-DF857BF89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1F4C3-7744-FD23-FDBD-07E8DE429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A1BC4-25C2-DA83-04A6-73B8007C2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2AC09-A92A-1688-DFBE-4D98573B2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C8443-EE72-E8C9-84DA-9F73CBA3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303E-AD80-93A2-0432-F03AD3AA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9C8F5-7375-7F7F-F937-00F9E73A2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9E88F-56CB-D3A9-636F-8842CFC0E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A77EF-F174-4A20-F6E7-701072BB0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11761-AD4C-DE05-F0F9-6261B4EE11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C0EB1-7F2E-A323-DDBD-79932EBA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F9ACEE-1AA3-41AA-9E14-34397319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17E841-0A8E-8099-793C-314010F2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3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A957-A2A5-AB3F-3901-96FD1D6F1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BB732B-2F3E-4079-00F8-DBDC26C5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1449C-9164-5BB0-EE4E-0B5146FD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F8C0B-BDFE-4282-0D3F-04A74791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3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5B0F08-D2ED-2989-9CD3-3255807C8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941D31-E7B4-66B6-CC67-DD64DF1E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898C2-6D22-6D61-AD53-BCE74209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4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A0C8-78B8-2CFE-4807-B8A5711FD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B8148-79BE-827C-34EE-AC4246A94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AB41D-DD6D-4BBA-DF54-8D8F5B92A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3F618-D202-F748-A6AF-4886CAA9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1E6E9-83BE-000B-E628-7BDD820C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04D6D-BE90-7B03-0F98-F7D64CEF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92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B3F1-0085-2665-8A01-93E09AA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563E1-3396-7AA9-F5CF-DA797F8EF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7232C-2C57-FA5D-CC76-D4960E626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52762-CF67-6A11-CF34-5F3D6031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883FF-4EA0-E76A-3F45-65962097E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B46B0-D829-1D41-E661-C0BA66AE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42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D854-4FE6-6DF7-DF48-D145DADD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2A02D-C4C9-C5CD-88C5-40316DDAF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A9BF5-61FC-3983-D87E-DFA6A179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E588-1321-7C8C-B76F-9089756A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E36AF-D4CA-E1CB-ADF6-85CD98167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4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0E7622-8E38-502C-51A0-E7F41537E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B9453-5BA3-D145-4335-C32DF20BD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FF711-37EB-5B41-2B03-55F97F948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B749A-91DC-88CC-76A6-CCE2321B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2E183-4611-FA72-377D-F5EC4107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19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79CA6-CB8E-B60C-E9E8-369C7A42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1747-21AE-57F2-9F33-AAAB4815F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C35EE-536F-A764-5BC8-3AE1099FA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F7399-BB30-47ED-90D5-617F845DBA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28F4-5ED4-1379-12B2-B6BE53F5F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B20EC-2C6E-9938-548D-0A1A8B8AA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B4A42-4C41-41B2-AADE-75252AFB0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9BCC-EDDE-291E-143B-982BBF9B59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Adaptive Hybrid Quantum–Classical Optimization Framework for Distributed Order Management Using QAOA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4E35B-D61E-18FB-5F05-2ED880CCF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7"/>
            <a:ext cx="11257935" cy="23071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WISER × Nestlé Quantum Challenge 2026</a:t>
            </a:r>
          </a:p>
          <a:p>
            <a:r>
              <a:rPr lang="en-US" dirty="0"/>
              <a:t>                                                    </a:t>
            </a:r>
            <a:r>
              <a:rPr lang="en-US" b="1" dirty="0"/>
              <a:t>Prepared by:</a:t>
            </a:r>
            <a:endParaRPr lang="en-US" dirty="0"/>
          </a:p>
          <a:p>
            <a:pPr lvl="0"/>
            <a:r>
              <a:rPr lang="en-US" dirty="0"/>
              <a:t>                                                                                                          Kadiyam Nava Kasturi Teja </a:t>
            </a:r>
          </a:p>
          <a:p>
            <a:pPr lvl="0"/>
            <a:r>
              <a:rPr lang="en-US" dirty="0"/>
              <a:t>                                                                                                               Computer Science and Engineering</a:t>
            </a:r>
          </a:p>
          <a:p>
            <a:r>
              <a:rPr lang="en-US" dirty="0"/>
              <a:t>                                                                              (Data Science) </a:t>
            </a:r>
          </a:p>
          <a:p>
            <a:pPr lvl="0"/>
            <a:r>
              <a:rPr lang="en-US" dirty="0"/>
              <a:t>                                                                                                              R.V.R. &amp; J.C. College of Engineering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10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25F7-24C8-ACE1-BCC2-E5220BB05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284"/>
            <a:ext cx="10515600" cy="572467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Distributed Order Management (DOM)</a:t>
            </a:r>
          </a:p>
          <a:p>
            <a:r>
              <a:rPr lang="en-US" b="1" dirty="0"/>
              <a:t>Business Challenge</a:t>
            </a:r>
          </a:p>
          <a:p>
            <a:r>
              <a:rPr lang="en-US" dirty="0"/>
              <a:t>When the default Distribution Center (DC) cannot fulfill an order due to operational constraints, an alternative DC must be selected while satisfying business requirements.</a:t>
            </a:r>
          </a:p>
          <a:p>
            <a:r>
              <a:rPr lang="en-US" b="1" dirty="0"/>
              <a:t>Constraints</a:t>
            </a:r>
          </a:p>
          <a:p>
            <a:pPr lvl="0"/>
            <a:r>
              <a:rPr lang="en-US" dirty="0"/>
              <a:t>Inventory Availability </a:t>
            </a:r>
          </a:p>
          <a:p>
            <a:pPr lvl="0"/>
            <a:r>
              <a:rPr lang="en-US" dirty="0"/>
              <a:t>Throughput Capacity </a:t>
            </a:r>
          </a:p>
          <a:p>
            <a:pPr lvl="0"/>
            <a:r>
              <a:rPr lang="en-US" dirty="0"/>
              <a:t>Dock Capacity </a:t>
            </a:r>
          </a:p>
          <a:p>
            <a:pPr lvl="0"/>
            <a:r>
              <a:rPr lang="en-US" dirty="0"/>
              <a:t>Shipping Cost </a:t>
            </a:r>
          </a:p>
          <a:p>
            <a:pPr lvl="0"/>
            <a:r>
              <a:rPr lang="en-US" dirty="0"/>
              <a:t>Revenue </a:t>
            </a:r>
          </a:p>
          <a:p>
            <a:pPr lvl="0"/>
            <a:r>
              <a:rPr lang="en-US" dirty="0"/>
              <a:t>Penalty Cost </a:t>
            </a:r>
          </a:p>
          <a:p>
            <a:r>
              <a:rPr lang="en-US" b="1" dirty="0"/>
              <a:t>Objective</a:t>
            </a:r>
          </a:p>
          <a:p>
            <a:r>
              <a:rPr lang="en-US" dirty="0"/>
              <a:t>Assign every order to </a:t>
            </a:r>
            <a:r>
              <a:rPr lang="en-US" b="1" dirty="0"/>
              <a:t>at most one</a:t>
            </a:r>
            <a:r>
              <a:rPr lang="en-US" dirty="0"/>
              <a:t> distribution center while maximizing business value and minimizing operational cost.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18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CA348D-9D38-4FA2-2808-7762632CB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961"/>
            <a:ext cx="10515600" cy="5823002"/>
          </a:xfrm>
        </p:spPr>
        <p:txBody>
          <a:bodyPr>
            <a:normAutofit/>
          </a:bodyPr>
          <a:lstStyle/>
          <a:p>
            <a:r>
              <a:rPr lang="en-US" dirty="0"/>
              <a:t>Proposed Hybrid Quantum–Classical Framework</a:t>
            </a:r>
          </a:p>
          <a:p>
            <a:pPr marL="0" indent="0">
              <a:buNone/>
            </a:pPr>
            <a:r>
              <a:rPr lang="en-US" b="1" dirty="0"/>
              <a:t>Key Components</a:t>
            </a:r>
          </a:p>
          <a:p>
            <a:pPr lvl="0"/>
            <a:r>
              <a:rPr lang="en-US" dirty="0"/>
              <a:t>Data Preprocessing </a:t>
            </a:r>
          </a:p>
          <a:p>
            <a:pPr lvl="0"/>
            <a:r>
              <a:rPr lang="en-US" dirty="0"/>
              <a:t>Candidate Generation </a:t>
            </a:r>
          </a:p>
          <a:p>
            <a:pPr lvl="0"/>
            <a:r>
              <a:rPr lang="en-US" dirty="0"/>
              <a:t>Adaptive Priority Score </a:t>
            </a:r>
          </a:p>
          <a:p>
            <a:pPr lvl="0"/>
            <a:r>
              <a:rPr lang="en-US" dirty="0"/>
              <a:t>Candidate Reduction </a:t>
            </a:r>
          </a:p>
          <a:p>
            <a:pPr lvl="0"/>
            <a:r>
              <a:rPr lang="en-US" dirty="0"/>
              <a:t>QUBO Formulation </a:t>
            </a:r>
          </a:p>
          <a:p>
            <a:pPr lvl="0"/>
            <a:r>
              <a:rPr lang="en-US" dirty="0"/>
              <a:t>QAOA Optimization </a:t>
            </a:r>
          </a:p>
          <a:p>
            <a:pPr lvl="0"/>
            <a:r>
              <a:rPr lang="en-US" dirty="0"/>
              <a:t>Business Repair </a:t>
            </a:r>
          </a:p>
          <a:p>
            <a:pPr lvl="0"/>
            <a:r>
              <a:rPr lang="en-US" dirty="0"/>
              <a:t>Final Business Solution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42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1C7CC1C-2E2E-F080-0D3D-E9F6B8FB3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6142"/>
            <a:ext cx="10950677" cy="59508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Optimization Results:</a:t>
            </a:r>
          </a:p>
          <a:p>
            <a:pPr marL="0" indent="0">
              <a:buNone/>
            </a:pPr>
            <a:r>
              <a:rPr lang="en-US" dirty="0"/>
              <a:t>Candidate Reduction:</a:t>
            </a:r>
          </a:p>
          <a:p>
            <a:pPr marL="0" indent="0">
              <a:buNone/>
            </a:pPr>
            <a:r>
              <a:rPr lang="en-US" dirty="0"/>
              <a:t>Benchmark Comparison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Benchmark Comparison: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12A90BA-A02B-8AFC-AFC1-4EED5B43A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043680"/>
              </p:ext>
            </p:extLst>
          </p:nvPr>
        </p:nvGraphicFramePr>
        <p:xfrm>
          <a:off x="838200" y="1258529"/>
          <a:ext cx="4677698" cy="15534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8849">
                  <a:extLst>
                    <a:ext uri="{9D8B030D-6E8A-4147-A177-3AD203B41FA5}">
                      <a16:colId xmlns:a16="http://schemas.microsoft.com/office/drawing/2014/main" val="3053974771"/>
                    </a:ext>
                  </a:extLst>
                </a:gridCol>
                <a:gridCol w="2338849">
                  <a:extLst>
                    <a:ext uri="{9D8B030D-6E8A-4147-A177-3AD203B41FA5}">
                      <a16:colId xmlns:a16="http://schemas.microsoft.com/office/drawing/2014/main" val="3919853106"/>
                    </a:ext>
                  </a:extLst>
                </a:gridCol>
              </a:tblGrid>
              <a:tr h="3883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Stage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</a:rPr>
                        <a:t>Number of Candidates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20055798"/>
                  </a:ext>
                </a:extLst>
              </a:tr>
              <a:tr h="3883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Initial feasible candidates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</a:rPr>
                        <a:t>133,495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8506611"/>
                  </a:ext>
                </a:extLst>
              </a:tr>
              <a:tr h="3883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Reduced optimization candidates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65,857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60722801"/>
                  </a:ext>
                </a:extLst>
              </a:tr>
              <a:tr h="3883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>
                          <a:effectLst/>
                        </a:rPr>
                        <a:t>Reduction achieved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effectLst/>
                        </a:rPr>
                        <a:t>50.67%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3347272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4254B1FA-E9CD-422E-7F53-B37D580DC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213" y="511278"/>
            <a:ext cx="6115664" cy="2625212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1B935DD-12DB-9B09-D2C7-BFB5CD2B6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459957"/>
              </p:ext>
            </p:extLst>
          </p:nvPr>
        </p:nvGraphicFramePr>
        <p:xfrm>
          <a:off x="838200" y="3844412"/>
          <a:ext cx="4677700" cy="21729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9425">
                  <a:extLst>
                    <a:ext uri="{9D8B030D-6E8A-4147-A177-3AD203B41FA5}">
                      <a16:colId xmlns:a16="http://schemas.microsoft.com/office/drawing/2014/main" val="989667919"/>
                    </a:ext>
                  </a:extLst>
                </a:gridCol>
                <a:gridCol w="1169425">
                  <a:extLst>
                    <a:ext uri="{9D8B030D-6E8A-4147-A177-3AD203B41FA5}">
                      <a16:colId xmlns:a16="http://schemas.microsoft.com/office/drawing/2014/main" val="523802685"/>
                    </a:ext>
                  </a:extLst>
                </a:gridCol>
                <a:gridCol w="1169425">
                  <a:extLst>
                    <a:ext uri="{9D8B030D-6E8A-4147-A177-3AD203B41FA5}">
                      <a16:colId xmlns:a16="http://schemas.microsoft.com/office/drawing/2014/main" val="2082226517"/>
                    </a:ext>
                  </a:extLst>
                </a:gridCol>
                <a:gridCol w="1169425">
                  <a:extLst>
                    <a:ext uri="{9D8B030D-6E8A-4147-A177-3AD203B41FA5}">
                      <a16:colId xmlns:a16="http://schemas.microsoft.com/office/drawing/2014/main" val="1925363609"/>
                    </a:ext>
                  </a:extLst>
                </a:gridCol>
              </a:tblGrid>
              <a:tr h="54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Method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Revenue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Shipping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Penalty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34475607"/>
                  </a:ext>
                </a:extLst>
              </a:tr>
              <a:tr h="54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Greedy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76,691,433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32,027,721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461.746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4194197"/>
                  </a:ext>
                </a:extLst>
              </a:tr>
              <a:tr h="54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Exact QUBO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4,744,085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22,405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31848497"/>
                  </a:ext>
                </a:extLst>
              </a:tr>
              <a:tr h="54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QAOA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2,490,693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12,477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0.040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9578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822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2C3B5-BBCC-2A45-A376-04B8C81C3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167148"/>
            <a:ext cx="11621729" cy="6449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Business Validation and Feasibility Repair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b="1" dirty="0"/>
              <a:t>Business Repair Process                                                                                 Constraint Validation                                                                 </a:t>
            </a:r>
          </a:p>
          <a:p>
            <a:pPr lvl="0"/>
            <a:r>
              <a:rPr lang="en-US" sz="1600" dirty="0"/>
              <a:t>Raw quantum solution selected </a:t>
            </a:r>
            <a:r>
              <a:rPr lang="en-US" sz="1600" b="1" dirty="0"/>
              <a:t>15 assignments</a:t>
            </a:r>
            <a:r>
              <a:rPr lang="en-US" sz="1600" dirty="0"/>
              <a:t>. </a:t>
            </a:r>
          </a:p>
          <a:p>
            <a:pPr lvl="0"/>
            <a:r>
              <a:rPr lang="en-US" sz="1600" dirty="0"/>
              <a:t>Duplicate order assignments were identified. </a:t>
            </a:r>
          </a:p>
          <a:p>
            <a:pPr lvl="0"/>
            <a:r>
              <a:rPr lang="en-US" sz="1600" dirty="0"/>
              <a:t>A business repair layer removed duplicate assignments. </a:t>
            </a:r>
          </a:p>
          <a:p>
            <a:r>
              <a:rPr lang="en-US" sz="1600" dirty="0"/>
              <a:t>Final feasible solution contained </a:t>
            </a:r>
            <a:r>
              <a:rPr lang="en-US" sz="1600" b="1" dirty="0"/>
              <a:t>12 valid assignments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b="1" dirty="0"/>
              <a:t>Key Result::</a:t>
            </a:r>
            <a:r>
              <a:rPr lang="en-US" sz="1600" dirty="0"/>
              <a:t>The repair layer successfully eliminated all duplicate order assignments, ensuring that every order was assigned to at most one distribution center while satisfying business constraints.</a:t>
            </a:r>
          </a:p>
          <a:p>
            <a:pPr marL="0" indent="0">
              <a:buNone/>
            </a:pPr>
            <a:r>
              <a:rPr lang="en-US" sz="1600" b="1" dirty="0">
                <a:highlight>
                  <a:srgbClr val="FFFF00"/>
                </a:highlight>
              </a:rPr>
              <a:t>Outcome:</a:t>
            </a:r>
            <a:r>
              <a:rPr lang="en-US" sz="1600" dirty="0">
                <a:highlight>
                  <a:srgbClr val="FFFF00"/>
                </a:highlight>
              </a:rPr>
              <a:t> The business repair layer transformed the raw quantum output into a fully feasible business solution with </a:t>
            </a:r>
            <a:r>
              <a:rPr lang="en-US" sz="1600" b="1" dirty="0">
                <a:highlight>
                  <a:srgbClr val="FFFF00"/>
                </a:highlight>
              </a:rPr>
              <a:t>zero constraint violations</a:t>
            </a:r>
            <a:r>
              <a:rPr lang="en-US" sz="1600" dirty="0">
                <a:highlight>
                  <a:srgbClr val="FFFF00"/>
                </a:highlight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33155D-AA45-525F-37EC-828C9240C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1" y="681037"/>
            <a:ext cx="5550185" cy="27479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E70699-2771-16CF-83E5-6AE94A2D8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81035"/>
            <a:ext cx="5772447" cy="274796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C91296B-A599-A272-BC7F-B2B9D8D36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769423"/>
              </p:ext>
            </p:extLst>
          </p:nvPr>
        </p:nvGraphicFramePr>
        <p:xfrm>
          <a:off x="6096000" y="4100052"/>
          <a:ext cx="5879690" cy="9930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39845">
                  <a:extLst>
                    <a:ext uri="{9D8B030D-6E8A-4147-A177-3AD203B41FA5}">
                      <a16:colId xmlns:a16="http://schemas.microsoft.com/office/drawing/2014/main" val="604364395"/>
                    </a:ext>
                  </a:extLst>
                </a:gridCol>
                <a:gridCol w="2939845">
                  <a:extLst>
                    <a:ext uri="{9D8B030D-6E8A-4147-A177-3AD203B41FA5}">
                      <a16:colId xmlns:a16="http://schemas.microsoft.com/office/drawing/2014/main" val="331087310"/>
                    </a:ext>
                  </a:extLst>
                </a:gridCol>
              </a:tblGrid>
              <a:tr h="331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Metric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3799868"/>
                  </a:ext>
                </a:extLst>
              </a:tr>
              <a:tr h="331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Violations Before Repair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2166392"/>
                  </a:ext>
                </a:extLst>
              </a:tr>
              <a:tr h="331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Violations After Repair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81954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196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01D0E-FED5-3202-3603-55BCD62EB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6645" y="157316"/>
            <a:ext cx="5734665" cy="647945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b="1" dirty="0"/>
              <a:t>Distribution Center Allocation and Scalability Analysis</a:t>
            </a:r>
          </a:p>
          <a:p>
            <a:pPr marL="0" indent="0">
              <a:buNone/>
            </a:pPr>
            <a:r>
              <a:rPr lang="en-US" sz="1900" dirty="0"/>
              <a:t>Distribution Center Allocation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Final Distribution Center Allocation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r>
              <a:rPr lang="en-US" sz="2100" b="1" dirty="0"/>
              <a:t>Key Observation</a:t>
            </a:r>
            <a:endParaRPr lang="en-US" sz="2100" dirty="0"/>
          </a:p>
          <a:p>
            <a:pPr lvl="0"/>
            <a:r>
              <a:rPr lang="en-US" sz="2100" dirty="0"/>
              <a:t>Orders were assigned across four feasible distribution centers. </a:t>
            </a:r>
          </a:p>
          <a:p>
            <a:pPr lvl="0"/>
            <a:r>
              <a:rPr lang="en-US" sz="2100" dirty="0"/>
              <a:t>Plant </a:t>
            </a:r>
            <a:r>
              <a:rPr lang="en-US" sz="2100" b="1" dirty="0"/>
              <a:t>5420</a:t>
            </a:r>
            <a:r>
              <a:rPr lang="en-US" sz="2100" dirty="0"/>
              <a:t> handled the highest number of optimized assignments. </a:t>
            </a:r>
          </a:p>
          <a:p>
            <a:pPr lvl="0"/>
            <a:r>
              <a:rPr lang="en-US" sz="2100" dirty="0"/>
              <a:t>The final allocation satisfied all operational constraints after    business repair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CA5F96-9277-0588-2A5B-9C92346D44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34" y="766917"/>
            <a:ext cx="4960648" cy="176980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A97A38-0D64-BA05-9A00-F7CFB5A94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01596"/>
              </p:ext>
            </p:extLst>
          </p:nvPr>
        </p:nvGraphicFramePr>
        <p:xfrm>
          <a:off x="353961" y="3028335"/>
          <a:ext cx="4891824" cy="13076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5912">
                  <a:extLst>
                    <a:ext uri="{9D8B030D-6E8A-4147-A177-3AD203B41FA5}">
                      <a16:colId xmlns:a16="http://schemas.microsoft.com/office/drawing/2014/main" val="4210277487"/>
                    </a:ext>
                  </a:extLst>
                </a:gridCol>
                <a:gridCol w="2445912">
                  <a:extLst>
                    <a:ext uri="{9D8B030D-6E8A-4147-A177-3AD203B41FA5}">
                      <a16:colId xmlns:a16="http://schemas.microsoft.com/office/drawing/2014/main" val="3638613180"/>
                    </a:ext>
                  </a:extLst>
                </a:gridCol>
              </a:tblGrid>
              <a:tr h="2615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Distribution Center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Orders Assigned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57135954"/>
                  </a:ext>
                </a:extLst>
              </a:tr>
              <a:tr h="2615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5420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73363634"/>
                  </a:ext>
                </a:extLst>
              </a:tr>
              <a:tr h="2615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5620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0126512"/>
                  </a:ext>
                </a:extLst>
              </a:tr>
              <a:tr h="2615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5385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08938123"/>
                  </a:ext>
                </a:extLst>
              </a:tr>
              <a:tr h="2615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5641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613561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EDD0C3F-18AB-5D72-DA3D-D86950A66E51}"/>
              </a:ext>
            </a:extLst>
          </p:cNvPr>
          <p:cNvSpPr txBox="1"/>
          <p:nvPr/>
        </p:nvSpPr>
        <p:spPr>
          <a:xfrm>
            <a:off x="6088626" y="127360"/>
            <a:ext cx="581824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Scalability Analysis  </a:t>
            </a:r>
          </a:p>
          <a:p>
            <a:r>
              <a:rPr lang="en-US" sz="2400" b="1" dirty="0"/>
              <a:t>Current Limitations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Large number of candidate assignments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Exponential growth in optimization variables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Limited qubit availability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QAOA execution restricted to small problem instances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Increased runtime for larger optimization models</a:t>
            </a:r>
          </a:p>
          <a:p>
            <a:r>
              <a:rPr lang="en-US" sz="2400" b="1" dirty="0"/>
              <a:t>Scalability Improvements</a:t>
            </a:r>
          </a:p>
          <a:p>
            <a:pPr lvl="0"/>
            <a:r>
              <a:rPr lang="en-US" sz="2400" dirty="0"/>
              <a:t>✅ Adaptive Candidate Reduction (</a:t>
            </a:r>
            <a:r>
              <a:rPr lang="en-US" sz="2400" b="1" dirty="0"/>
              <a:t>50.67%</a:t>
            </a:r>
            <a:r>
              <a:rPr lang="en-US" sz="2400" dirty="0"/>
              <a:t>) </a:t>
            </a:r>
          </a:p>
          <a:p>
            <a:pPr lvl="0"/>
            <a:r>
              <a:rPr lang="en-US" sz="2400" dirty="0"/>
              <a:t>✅ Classical preprocessing </a:t>
            </a:r>
          </a:p>
          <a:p>
            <a:pPr lvl="0"/>
            <a:r>
              <a:rPr lang="en-US" sz="2400" dirty="0"/>
              <a:t>✅ Problem decomposition </a:t>
            </a:r>
          </a:p>
          <a:p>
            <a:pPr lvl="0"/>
            <a:r>
              <a:rPr lang="en-US" sz="2400" dirty="0"/>
              <a:t>✅ Batch optimization </a:t>
            </a:r>
          </a:p>
          <a:p>
            <a:pPr lvl="0"/>
            <a:r>
              <a:rPr lang="en-US" sz="2400" dirty="0"/>
              <a:t>✅ Future execution on larger quantum         hardware</a:t>
            </a:r>
          </a:p>
          <a:p>
            <a:pPr lvl="0"/>
            <a:endParaRPr lang="en-US" sz="2400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3363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AD9B3-37C9-80DD-8558-A339BE39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5200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BBE5C-2DAF-88A8-3522-DEDE6087D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167148"/>
            <a:ext cx="11523407" cy="660727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Conclusion and Future Work</a:t>
            </a:r>
          </a:p>
          <a:p>
            <a:pPr marL="0" indent="0">
              <a:buNone/>
            </a:pPr>
            <a:r>
              <a:rPr lang="en-US" sz="1600" b="1" dirty="0"/>
              <a:t>Project Contributions</a:t>
            </a:r>
          </a:p>
          <a:p>
            <a:r>
              <a:rPr lang="en-US" sz="1600" dirty="0"/>
              <a:t>✅ Developed a </a:t>
            </a:r>
            <a:r>
              <a:rPr lang="en-US" sz="1600" b="1" dirty="0"/>
              <a:t>Hybrid Quantum–Classical Optimization Framework</a:t>
            </a:r>
            <a:r>
              <a:rPr lang="en-US" sz="1600" dirty="0"/>
              <a:t> for Distributed Order Management.</a:t>
            </a:r>
          </a:p>
          <a:p>
            <a:r>
              <a:rPr lang="en-US" sz="1600" dirty="0"/>
              <a:t>✅ Formulated the business problem as a </a:t>
            </a:r>
            <a:r>
              <a:rPr lang="en-US" sz="1600" b="1" dirty="0"/>
              <a:t>Quadratic Unconstrained Binary Optimization (QUBO)</a:t>
            </a:r>
            <a:r>
              <a:rPr lang="en-US" sz="1600" dirty="0"/>
              <a:t> model.</a:t>
            </a:r>
          </a:p>
          <a:p>
            <a:r>
              <a:rPr lang="en-US" sz="1600" dirty="0"/>
              <a:t>✅ Implemented </a:t>
            </a:r>
            <a:r>
              <a:rPr lang="en-US" sz="1600" b="1" dirty="0"/>
              <a:t>Adaptive Priority Scoring</a:t>
            </a:r>
            <a:r>
              <a:rPr lang="en-US" sz="1600" dirty="0"/>
              <a:t> and </a:t>
            </a:r>
            <a:r>
              <a:rPr lang="en-US" sz="1600" b="1" dirty="0"/>
              <a:t>Candidate Reduction</a:t>
            </a:r>
            <a:r>
              <a:rPr lang="en-US" sz="1600" dirty="0"/>
              <a:t>, reducing the optimization search space by </a:t>
            </a:r>
            <a:r>
              <a:rPr lang="en-US" sz="1600" b="1" dirty="0"/>
              <a:t>50.67%</a:t>
            </a:r>
            <a:r>
              <a:rPr lang="en-US" sz="1600" dirty="0"/>
              <a:t>.</a:t>
            </a:r>
          </a:p>
          <a:p>
            <a:r>
              <a:rPr lang="en-US" sz="1600" dirty="0"/>
              <a:t>✅ Solved the optimization problem using both the </a:t>
            </a:r>
            <a:r>
              <a:rPr lang="en-US" sz="1600" b="1" dirty="0"/>
              <a:t>Exact QUBO Solver</a:t>
            </a:r>
            <a:r>
              <a:rPr lang="en-US" sz="1600" dirty="0"/>
              <a:t> and the </a:t>
            </a:r>
            <a:r>
              <a:rPr lang="en-US" sz="1600" b="1" dirty="0"/>
              <a:t>Quantum Approximate Optimization Algorithm (QAOA)</a:t>
            </a:r>
            <a:r>
              <a:rPr lang="en-US" sz="1600" dirty="0"/>
              <a:t>.</a:t>
            </a:r>
          </a:p>
          <a:p>
            <a:r>
              <a:rPr lang="en-US" sz="1600" dirty="0"/>
              <a:t>✅ Introduced a </a:t>
            </a:r>
            <a:r>
              <a:rPr lang="en-US" sz="1600" b="1" dirty="0"/>
              <a:t>Business Repair Layer</a:t>
            </a:r>
            <a:r>
              <a:rPr lang="en-US" sz="1600" dirty="0"/>
              <a:t> to ensure feasible order assignments and eliminate duplicate distribution center allocations.</a:t>
            </a:r>
          </a:p>
          <a:p>
            <a:pPr marL="0" indent="0">
              <a:buNone/>
            </a:pPr>
            <a:r>
              <a:rPr lang="en-US" sz="1600" b="1" dirty="0"/>
              <a:t>Key Achievements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Future Work</a:t>
            </a:r>
          </a:p>
          <a:p>
            <a:pPr lvl="0"/>
            <a:r>
              <a:rPr lang="en-US" sz="1600" dirty="0"/>
              <a:t>Scale the framework to larger Distributed Order Management datasets. </a:t>
            </a:r>
          </a:p>
          <a:p>
            <a:pPr lvl="0"/>
            <a:r>
              <a:rPr lang="en-US" sz="1600" dirty="0"/>
              <a:t>Evaluate the approach on future quantum hardware with more qubits. </a:t>
            </a:r>
          </a:p>
          <a:p>
            <a:pPr lvl="0"/>
            <a:r>
              <a:rPr lang="en-US" sz="1600" dirty="0"/>
              <a:t>Investigate advanced QAOA parameter optimization and circuit designs. </a:t>
            </a:r>
          </a:p>
          <a:p>
            <a:pPr lvl="0"/>
            <a:r>
              <a:rPr lang="en-US" sz="1600" dirty="0"/>
              <a:t>Develop multi-objective optimization models incorporating sustainability and delivery time. </a:t>
            </a:r>
          </a:p>
          <a:p>
            <a:pPr lvl="0"/>
            <a:r>
              <a:rPr lang="en-US" sz="1600" dirty="0"/>
              <a:t>Integrate real-time inventory updates and dynamic demand forecasting. </a:t>
            </a:r>
          </a:p>
          <a:p>
            <a:pPr lvl="0"/>
            <a:r>
              <a:rPr lang="en-US" sz="1600" dirty="0"/>
              <a:t>Compare the framework with additional optimization techniques such as MILP, Genetic Algorithms, and Simulated Annealing.</a:t>
            </a:r>
          </a:p>
          <a:p>
            <a:pPr marL="0" lvl="0" indent="0">
              <a:buNone/>
            </a:pPr>
            <a:r>
              <a:rPr lang="en-US" sz="1600" b="1" dirty="0"/>
              <a:t>Closing Statement</a:t>
            </a:r>
          </a:p>
          <a:p>
            <a:pPr marL="0" lvl="0" indent="0">
              <a:buNone/>
            </a:pPr>
            <a:r>
              <a:rPr lang="en-US" sz="1600" dirty="0"/>
              <a:t>The proposed hybrid quantum–classical framework demonstrates that adaptive preprocessing, QUBO modeling, quantum optimization, and business validation can effectively address complex Distributed Order Management problems while providing a scalable foundation for future quantum-assisted supply chain optimization.</a:t>
            </a:r>
          </a:p>
          <a:p>
            <a:pPr marL="0" indent="0">
              <a:buNone/>
            </a:pPr>
            <a:endParaRPr lang="en-US" sz="1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D562C2-225F-56E9-611E-D0E3A0FF3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757314"/>
              </p:ext>
            </p:extLst>
          </p:nvPr>
        </p:nvGraphicFramePr>
        <p:xfrm>
          <a:off x="580103" y="2595716"/>
          <a:ext cx="10773698" cy="11405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86849">
                  <a:extLst>
                    <a:ext uri="{9D8B030D-6E8A-4147-A177-3AD203B41FA5}">
                      <a16:colId xmlns:a16="http://schemas.microsoft.com/office/drawing/2014/main" val="3996739775"/>
                    </a:ext>
                  </a:extLst>
                </a:gridCol>
                <a:gridCol w="5386849">
                  <a:extLst>
                    <a:ext uri="{9D8B030D-6E8A-4147-A177-3AD203B41FA5}">
                      <a16:colId xmlns:a16="http://schemas.microsoft.com/office/drawing/2014/main" val="1923681076"/>
                    </a:ext>
                  </a:extLst>
                </a:gridCol>
              </a:tblGrid>
              <a:tr h="2281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Metric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Result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48292913"/>
                  </a:ext>
                </a:extLst>
              </a:tr>
              <a:tr h="2281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Candidate Reduction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50.67%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35524671"/>
                  </a:ext>
                </a:extLst>
              </a:tr>
              <a:tr h="2281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Constraint Violations After Repair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8036753"/>
                  </a:ext>
                </a:extLst>
              </a:tr>
              <a:tr h="2281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Final Business Assignments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8376387"/>
                  </a:ext>
                </a:extLst>
              </a:tr>
              <a:tr h="2281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Hybrid Quantum–Classical Workflow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Successfully Implemented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12837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880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633</Words>
  <Application>Microsoft Office PowerPoint</Application>
  <PresentationFormat>Widescreen</PresentationFormat>
  <Paragraphs>155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Adaptive Hybrid Quantum–Classical Optimization Framework for Distributed Order Management Using QAOA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 Kadiyam</dc:creator>
  <cp:lastModifiedBy>Teja Kadiyam</cp:lastModifiedBy>
  <cp:revision>2</cp:revision>
  <dcterms:created xsi:type="dcterms:W3CDTF">2026-08-02T03:08:38Z</dcterms:created>
  <dcterms:modified xsi:type="dcterms:W3CDTF">2026-08-02T04:16:47Z</dcterms:modified>
</cp:coreProperties>
</file>